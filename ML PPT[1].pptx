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6" r:id="rId10"/>
    <p:sldId id="263" r:id="rId11"/>
    <p:sldId id="265" r:id="rId12"/>
    <p:sldId id="273" r:id="rId13"/>
    <p:sldId id="264" r:id="rId14"/>
    <p:sldId id="267" r:id="rId15"/>
    <p:sldId id="271" r:id="rId1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3584" autoAdjust="0"/>
  </p:normalViewPr>
  <p:slideViewPr>
    <p:cSldViewPr snapToGrid="0">
      <p:cViewPr varScale="1">
        <p:scale>
          <a:sx n="59" d="100"/>
          <a:sy n="59" d="100"/>
        </p:scale>
        <p:origin x="8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184CF-6386-4335-9FA2-8DC64AABE7F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4F552-16CA-4291-B7E2-5B71F6608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407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DEE5D00-CD2A-41CC-85D3-713F234E79D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4ABD79B-0200-47C5-BD53-1D0900C10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BD79B-0200-47C5-BD53-1D0900C102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7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E95A-76AD-4562-9BDD-AA40B575DCD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822586" y="-75605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</a:p>
        </p:txBody>
      </p:sp>
      <p:pic>
        <p:nvPicPr>
          <p:cNvPr id="1026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6944"/>
            <a:ext cx="762000" cy="6667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9067800" y="74213"/>
            <a:ext cx="2736647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Department of Electronics and</a:t>
            </a:r>
          </a:p>
          <a:p>
            <a:r>
              <a:rPr lang="en-US" dirty="0">
                <a:latin typeface="Arial Narrow" panose="020B0606020202030204" pitchFamily="34" charset="0"/>
              </a:rPr>
              <a:t>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291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1599-19C2-422D-8E99-48A3A80A7807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7279786" y="-87293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</a:p>
        </p:txBody>
      </p:sp>
      <p:pic>
        <p:nvPicPr>
          <p:cNvPr id="8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116" y="-20943"/>
            <a:ext cx="762000" cy="7721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9704116" y="66596"/>
            <a:ext cx="2549423" cy="6155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 Narrow" panose="020B0606020202030204" pitchFamily="34" charset="0"/>
              </a:rPr>
              <a:t>Department of Electronics and 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07404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1634-6EDF-4126-B6BD-F0314E3A545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2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DCF9-3042-4925-A639-CD49D2B7E764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3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72B5-3D87-4BBE-A24C-F0FBEFA0EA7E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9372-D806-46A5-9FFA-1E4974927293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1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A518-7DF4-45AB-81AD-40A8B81A746E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71A7-8EE0-4A4F-AED0-8A709439DA2B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4C51-9BB0-41F1-8EB2-DC6D7DEA5638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6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2744-7F3C-4C95-A4A4-30757272E7E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0566-1B15-427E-A611-E0946A339027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7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D1CF0-3A4C-4427-A3BC-0D20F01CD292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your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0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tensorrt" TargetMode="External"/><Relationship Id="rId2" Type="http://schemas.openxmlformats.org/officeDocument/2006/relationships/hyperlink" Target="https://docs.ultralytic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aheshk22310389-cpu/Object_Detection" TargetMode="External"/><Relationship Id="rId4" Type="http://schemas.openxmlformats.org/officeDocument/2006/relationships/hyperlink" Target="https://cocodataset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3199"/>
            <a:ext cx="9144000" cy="3079541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latin typeface="Bookman Old Style" panose="02050604050505020204" pitchFamily="18" charset="0"/>
              </a:rPr>
              <a:t>Presentation on</a:t>
            </a:r>
            <a:br>
              <a:rPr lang="en-US" sz="4800" dirty="0">
                <a:latin typeface="Bookman Old Style" panose="02050604050505020204" pitchFamily="18" charset="0"/>
              </a:rPr>
            </a:br>
            <a:r>
              <a:rPr lang="en-US" sz="4800" dirty="0">
                <a:solidFill>
                  <a:srgbClr val="000099"/>
                </a:solidFill>
                <a:latin typeface="Bookman Old Style" panose="02050604050505020204" pitchFamily="18" charset="0"/>
              </a:rPr>
              <a:t>Object Detection</a:t>
            </a:r>
            <a:br>
              <a:rPr lang="en-US" sz="4800" dirty="0">
                <a:latin typeface="Bookman Old Style" panose="02050604050505020204" pitchFamily="18" charset="0"/>
              </a:rPr>
            </a:br>
            <a:r>
              <a:rPr lang="en-US" sz="2400" i="1" dirty="0">
                <a:latin typeface="Bookman Old Style" panose="02050604050505020204" pitchFamily="18" charset="0"/>
              </a:rPr>
              <a:t>By</a:t>
            </a:r>
            <a:br>
              <a:rPr lang="en-US" sz="2400" i="1" dirty="0">
                <a:latin typeface="Bookman Old Style" panose="02050604050505020204" pitchFamily="18" charset="0"/>
              </a:rPr>
            </a:br>
            <a:br>
              <a:rPr lang="en-US" sz="2400" i="1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Avishkar Gadhave –TY- 22310286- 312011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Aditya Waje –TY- 22310338- 312012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Mahesh Kachave –TY- 22310389- 312015</a:t>
            </a:r>
            <a:br>
              <a:rPr lang="en-US" sz="2400" dirty="0">
                <a:latin typeface="Bookman Old Style" panose="02050604050505020204" pitchFamily="18" charset="0"/>
              </a:rPr>
            </a:b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Subject : Machine Learning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8746" y="4552741"/>
            <a:ext cx="11354507" cy="207327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2300" dirty="0"/>
              <a:t>Guided by</a:t>
            </a:r>
            <a:endParaRPr lang="en-US" sz="3100" dirty="0"/>
          </a:p>
          <a:p>
            <a:r>
              <a:rPr lang="en-US" sz="2600" b="1" dirty="0"/>
              <a:t>Dr. Jyoti Madake</a:t>
            </a:r>
          </a:p>
          <a:p>
            <a:r>
              <a:rPr lang="en-US" sz="2200" dirty="0"/>
              <a:t>Department of Electronics and Telecommunications</a:t>
            </a:r>
          </a:p>
          <a:p>
            <a:r>
              <a:rPr lang="en-US" sz="2300" b="1" dirty="0">
                <a:solidFill>
                  <a:srgbClr val="000099"/>
                </a:solidFill>
              </a:rPr>
              <a:t>Vishwakarma Institute of Information Technology, Pune</a:t>
            </a:r>
            <a:r>
              <a:rPr lang="en-US" sz="2600" b="1" dirty="0">
                <a:solidFill>
                  <a:srgbClr val="000099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38800" y="292330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7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4239"/>
            <a:ext cx="5257800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Introduction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Motivation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Literature Survey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Objectives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Methodology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Dataset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Implementation 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Different Phases of Implementation (if any)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Results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Conclusions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References</a:t>
            </a:r>
            <a:endParaRPr lang="en-IN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detection identifies and classifies multiple objects in images or live video.</a:t>
            </a:r>
          </a:p>
          <a:p>
            <a:r>
              <a:rPr lang="en-US" dirty="0"/>
              <a:t>It is used in surveillance, autonomous systems, and industrial monitoring.</a:t>
            </a:r>
          </a:p>
          <a:p>
            <a:r>
              <a:rPr lang="en-US" dirty="0"/>
              <a:t>Our project aims to build a real-time detection system using YOLOv8 optimized with TensorRT.</a:t>
            </a:r>
          </a:p>
          <a:p>
            <a:r>
              <a:rPr lang="en-US" dirty="0"/>
              <a:t>The system can detect objects such as people, vehicles, and daily-use items efficiently on GPU.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8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demand for real-time intelligent vision systems is growing across industries.</a:t>
            </a:r>
          </a:p>
          <a:p>
            <a:r>
              <a:rPr lang="en-US" dirty="0"/>
              <a:t>Conventional detection models are too slow for live applications.</a:t>
            </a:r>
          </a:p>
          <a:p>
            <a:r>
              <a:rPr lang="en-US" dirty="0"/>
              <a:t>YOLOv8 offers high accuracy and lightweight architecture for fast inference.</a:t>
            </a:r>
          </a:p>
          <a:p>
            <a:r>
              <a:rPr lang="en-US" dirty="0"/>
              <a:t>TensorRT optimization helps achieve low latency and high FPS on NVIDIA GPUs.</a:t>
            </a:r>
          </a:p>
          <a:p>
            <a:r>
              <a:rPr lang="en-US" dirty="0"/>
              <a:t>Social relevance: Can be applied in smart factories, safety monitoring, and automation.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2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>
                <a:solidFill>
                  <a:srgbClr val="000000"/>
                </a:solidFill>
              </a:rPr>
            </a:br>
            <a:r>
              <a:rPr lang="en-IE" sz="4900" dirty="0">
                <a:solidFill>
                  <a:srgbClr val="000000"/>
                </a:solidFill>
              </a:rPr>
              <a:t>Literature Survey</a:t>
            </a:r>
            <a:br>
              <a:rPr lang="en-IE" sz="4900" dirty="0">
                <a:solidFill>
                  <a:srgbClr val="000000"/>
                </a:solidFill>
              </a:rPr>
            </a:br>
            <a:endParaRPr lang="en-US" sz="49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5244AB4-2934-4D15-AD4E-D44225A6C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3338914"/>
              </p:ext>
            </p:extLst>
          </p:nvPr>
        </p:nvGraphicFramePr>
        <p:xfrm>
          <a:off x="838200" y="1414939"/>
          <a:ext cx="10515600" cy="521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376394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00470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75416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068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Author/Year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Model/Technique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945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Redmon et al. (2016)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YOLOv1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real-time object detector using single neural network.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accuracy for small objects.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46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Liu et al. (2016)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SSD (Single Shot </a:t>
                      </a:r>
                      <a:r>
                        <a:rPr lang="en-US" dirty="0" err="1"/>
                        <a:t>MultiBox</a:t>
                      </a:r>
                      <a:r>
                        <a:rPr lang="en-US" dirty="0"/>
                        <a:t> Detector)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Faster than Faster R-CNN, suitable for mobile use.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accurate for dense objects.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29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Bochkovskiy</a:t>
                      </a:r>
                      <a:r>
                        <a:rPr lang="en-IN" dirty="0"/>
                        <a:t>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YOLOv4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accuracy with CSPDarknet-53 and Mosaic augmentation.	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computational load.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300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Glenn </a:t>
                      </a:r>
                      <a:r>
                        <a:rPr lang="en-IN" dirty="0" err="1"/>
                        <a:t>Jocher</a:t>
                      </a:r>
                      <a:r>
                        <a:rPr lang="en-IN" dirty="0"/>
                        <a:t>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YOLOv8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Lightweight, anchor-free, high accuracy, easy training.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optimized for high FPS deployment.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60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NVIDIA Developer Blog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TensorRT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Quantization and acceleration on GPU for lower latency.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specialized hardware.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78778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5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F614-8C57-44C3-879F-49F66BA6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2EDAD-C496-45BD-B2F5-F2F6CAB8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Summary:</a:t>
            </a:r>
            <a:br>
              <a:rPr lang="en-IN" dirty="0"/>
            </a:br>
            <a:endParaRPr lang="en-IN" dirty="0"/>
          </a:p>
          <a:p>
            <a:pPr lvl="1"/>
            <a:r>
              <a:rPr lang="en-IN" dirty="0"/>
              <a:t>YOLO models provide fast and accurate detection, but optimization for real-time (1080p, 30 FPS) is still challenging.</a:t>
            </a:r>
            <a:br>
              <a:rPr lang="en-IN" dirty="0"/>
            </a:br>
            <a:endParaRPr lang="en-IN" dirty="0"/>
          </a:p>
          <a:p>
            <a:pPr lvl="1"/>
            <a:r>
              <a:rPr lang="en-IN" dirty="0"/>
              <a:t>Our project bridges this gap using YOLOv8 + TensorRT (INT8 quantization) for efficient inference.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0B7FF-BEC0-4D2A-B0FA-089D0E044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DD881-763A-416B-90A1-8211935A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0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>
                <a:solidFill>
                  <a:srgbClr val="000000"/>
                </a:solidFill>
              </a:rPr>
            </a:br>
            <a:r>
              <a:rPr lang="en-IE" dirty="0">
                <a:solidFill>
                  <a:srgbClr val="000000"/>
                </a:solidFill>
              </a:rPr>
              <a:t>Aim and Objectives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Aim: To develop a real-time, high-accuracy object detection system using YOLOv8 optimized with TensorRT.</a:t>
            </a:r>
          </a:p>
          <a:p>
            <a:pPr algn="just"/>
            <a:r>
              <a:rPr lang="en-US" dirty="0"/>
              <a:t>Objectives:</a:t>
            </a:r>
          </a:p>
          <a:p>
            <a:pPr marL="971550" lvl="1" indent="-514350" algn="just">
              <a:buSzPct val="80000"/>
              <a:buFont typeface="+mj-lt"/>
              <a:buAutoNum type="arabicPeriod"/>
            </a:pPr>
            <a:r>
              <a:rPr lang="en-US" sz="2800" dirty="0"/>
              <a:t>Achieve at least 25–30 FPS on 1080p live video feed.</a:t>
            </a:r>
          </a:p>
          <a:p>
            <a:pPr marL="971550" lvl="1" indent="-514350" algn="just">
              <a:buSzPct val="80000"/>
              <a:buFont typeface="+mj-lt"/>
              <a:buAutoNum type="arabicPeriod"/>
            </a:pPr>
            <a:r>
              <a:rPr lang="en-US" sz="2800" dirty="0"/>
              <a:t>Ensure </a:t>
            </a:r>
            <a:r>
              <a:rPr lang="en-US" sz="2800" dirty="0" err="1"/>
              <a:t>mAP</a:t>
            </a:r>
            <a:r>
              <a:rPr lang="en-US" sz="2800" dirty="0"/>
              <a:t> ≥ 90% on the custom dataset.</a:t>
            </a:r>
          </a:p>
          <a:p>
            <a:pPr marL="971550" lvl="1" indent="-514350" algn="just">
              <a:buSzPct val="80000"/>
              <a:buFont typeface="+mj-lt"/>
              <a:buAutoNum type="arabicPeriod"/>
            </a:pPr>
            <a:r>
              <a:rPr lang="en-US" sz="2800" dirty="0"/>
              <a:t>Apply INT8 quantization to reduce model size and improve speed.</a:t>
            </a:r>
          </a:p>
          <a:p>
            <a:pPr marL="971550" lvl="1" indent="-514350" algn="just">
              <a:buSzPct val="80000"/>
              <a:buFont typeface="+mj-lt"/>
              <a:buAutoNum type="arabicPeriod"/>
            </a:pPr>
            <a:r>
              <a:rPr lang="en-US" sz="2800" dirty="0"/>
              <a:t>Maintain CPU utilization below 60% during inference.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0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Methodology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Workflow:</a:t>
            </a:r>
          </a:p>
          <a:p>
            <a:pPr marL="971550" lvl="1" indent="-514350">
              <a:buSzPct val="93000"/>
              <a:buFont typeface="+mj-lt"/>
              <a:buAutoNum type="arabicPeriod"/>
            </a:pPr>
            <a:r>
              <a:rPr lang="en-IN" dirty="0"/>
              <a:t>Data collection and annotation (subset of COCO dataset).</a:t>
            </a:r>
          </a:p>
          <a:p>
            <a:pPr marL="971550" lvl="1" indent="-514350">
              <a:buSzPct val="93000"/>
              <a:buFont typeface="+mj-lt"/>
              <a:buAutoNum type="arabicPeriod"/>
            </a:pPr>
            <a:r>
              <a:rPr lang="en-IN" dirty="0"/>
              <a:t>Train YOLOv8 model using Ultralytics framework.</a:t>
            </a:r>
          </a:p>
          <a:p>
            <a:pPr marL="971550" lvl="1" indent="-514350">
              <a:buSzPct val="93000"/>
              <a:buFont typeface="+mj-lt"/>
              <a:buAutoNum type="arabicPeriod"/>
            </a:pPr>
            <a:r>
              <a:rPr lang="en-IN" dirty="0"/>
              <a:t>Export trained model to ONNX, convert to TensorRT engine (INT8).</a:t>
            </a:r>
          </a:p>
          <a:p>
            <a:pPr marL="971550" lvl="1" indent="-514350">
              <a:buSzPct val="93000"/>
              <a:buFont typeface="+mj-lt"/>
              <a:buAutoNum type="arabicPeriod"/>
            </a:pPr>
            <a:r>
              <a:rPr lang="en-IN" dirty="0"/>
              <a:t>Run inference on live camera feed via OpenCV + CUDA.</a:t>
            </a:r>
          </a:p>
          <a:p>
            <a:pPr marL="971550" lvl="1" indent="-514350">
              <a:buSzPct val="93000"/>
              <a:buFont typeface="+mj-lt"/>
              <a:buAutoNum type="arabicPeriod"/>
            </a:pPr>
            <a:r>
              <a:rPr lang="en-IN" dirty="0"/>
              <a:t>Display detections in real-time with bounding boxes and labels.</a:t>
            </a:r>
          </a:p>
          <a:p>
            <a:r>
              <a:rPr lang="en-IN" dirty="0"/>
              <a:t>Hardware/Software Used:</a:t>
            </a:r>
          </a:p>
          <a:p>
            <a:pPr lvl="1"/>
            <a:r>
              <a:rPr lang="en-IN" dirty="0"/>
              <a:t>NVIDIA GPU with CUDA support</a:t>
            </a:r>
          </a:p>
          <a:p>
            <a:pPr lvl="1"/>
            <a:r>
              <a:rPr lang="en-IN" dirty="0"/>
              <a:t>Python, PyTorch, Ultralytics YOLOv8, TensorRT, OpenCV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COCO 2017 (subset)</a:t>
            </a:r>
          </a:p>
          <a:p>
            <a:r>
              <a:rPr lang="en-US" dirty="0"/>
              <a:t>Classes Used: person, car, bicycle, laptop, book, bottle, cell phone, mouse, clock, sports ball</a:t>
            </a:r>
          </a:p>
          <a:p>
            <a:r>
              <a:rPr lang="en-US" dirty="0"/>
              <a:t>Data Split: 80% Training, 10% Validation, 10% Testing</a:t>
            </a:r>
          </a:p>
          <a:p>
            <a:r>
              <a:rPr lang="en-US" dirty="0"/>
              <a:t>Augmentation: Rotation, scaling, flipping, brightness adjustments</a:t>
            </a:r>
          </a:p>
          <a:p>
            <a:r>
              <a:rPr lang="en-US" dirty="0"/>
              <a:t>Evaluation Metric: mAP@0.5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1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Different Phases of Implementation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CA0B3B4-59DD-47EE-9D5B-2F0FAA805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630323"/>
              </p:ext>
            </p:extLst>
          </p:nvPr>
        </p:nvGraphicFramePr>
        <p:xfrm>
          <a:off x="1132113" y="2316480"/>
          <a:ext cx="935083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2459">
                  <a:extLst>
                    <a:ext uri="{9D8B030D-6E8A-4147-A177-3AD203B41FA5}">
                      <a16:colId xmlns:a16="http://schemas.microsoft.com/office/drawing/2014/main" val="1207268313"/>
                    </a:ext>
                  </a:extLst>
                </a:gridCol>
                <a:gridCol w="7108371">
                  <a:extLst>
                    <a:ext uri="{9D8B030D-6E8A-4147-A177-3AD203B41FA5}">
                      <a16:colId xmlns:a16="http://schemas.microsoft.com/office/drawing/2014/main" val="1319556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39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collection &amp; </a:t>
                      </a:r>
                      <a:r>
                        <a:rPr lang="en-IN" sz="2000" dirty="0" err="1"/>
                        <a:t>preprocessing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34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Model training (YOLOv8 base)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ONNX export &amp; </a:t>
                      </a:r>
                      <a:r>
                        <a:rPr lang="fr-FR" sz="2000" dirty="0" err="1"/>
                        <a:t>TensorRT</a:t>
                      </a:r>
                      <a:r>
                        <a:rPr lang="fr-FR" sz="2000" dirty="0"/>
                        <a:t> conversion (INT8)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6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Integration with OpenCV for live detection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8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Evaluation: FPS, CPU usage, </a:t>
                      </a:r>
                      <a:r>
                        <a:rPr lang="fr-FR" sz="2000" dirty="0" err="1"/>
                        <a:t>mAP</a:t>
                      </a:r>
                      <a:r>
                        <a:rPr lang="fr-FR" sz="2000" dirty="0"/>
                        <a:t> performance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81784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11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14BA17-6ADC-4F2B-BE26-286E7F3BBD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58682"/>
              </p:ext>
            </p:extLst>
          </p:nvPr>
        </p:nvGraphicFramePr>
        <p:xfrm>
          <a:off x="838200" y="2006085"/>
          <a:ext cx="1051560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1469371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351045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246350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91163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80329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Model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/>
                        <a:t>mAP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CPU 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82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YOLOv8m (PyTorch FP32)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847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YOLOv8m (TensorRT INT8)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63897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CA37EE-416B-4FF6-83E1-2BF10BD7B494}"/>
              </a:ext>
            </a:extLst>
          </p:cNvPr>
          <p:cNvSpPr/>
          <p:nvPr/>
        </p:nvSpPr>
        <p:spPr>
          <a:xfrm>
            <a:off x="838200" y="1506022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Performance Summary: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3CE96-5F19-4298-8EF2-9FD6AF2316AD}"/>
              </a:ext>
            </a:extLst>
          </p:cNvPr>
          <p:cNvSpPr/>
          <p:nvPr/>
        </p:nvSpPr>
        <p:spPr>
          <a:xfrm>
            <a:off x="838200" y="4424602"/>
            <a:ext cx="107877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Key 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Achieved real-time inference (30 FPS).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Accuracy remained above 90% post quantization.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CPU load reduced significantly with GPU acceleration.</a:t>
            </a:r>
          </a:p>
        </p:txBody>
      </p:sp>
    </p:spTree>
    <p:extLst>
      <p:ext uri="{BB962C8B-B14F-4D97-AF65-F5344CB8AC3E}">
        <p14:creationId xmlns:p14="http://schemas.microsoft.com/office/powerpoint/2010/main" val="3762422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6923-CE1B-4D89-86D0-7B1D8FB9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2A85C-D4F8-4855-9562-4E373E87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A207F18-AF2C-48F8-A93D-740E7E08C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243141"/>
              </p:ext>
            </p:extLst>
          </p:nvPr>
        </p:nvGraphicFramePr>
        <p:xfrm>
          <a:off x="762000" y="1303179"/>
          <a:ext cx="10960101" cy="521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3367">
                  <a:extLst>
                    <a:ext uri="{9D8B030D-6E8A-4147-A177-3AD203B41FA5}">
                      <a16:colId xmlns:a16="http://schemas.microsoft.com/office/drawing/2014/main" val="3649023948"/>
                    </a:ext>
                  </a:extLst>
                </a:gridCol>
                <a:gridCol w="3653367">
                  <a:extLst>
                    <a:ext uri="{9D8B030D-6E8A-4147-A177-3AD203B41FA5}">
                      <a16:colId xmlns:a16="http://schemas.microsoft.com/office/drawing/2014/main" val="1658864423"/>
                    </a:ext>
                  </a:extLst>
                </a:gridCol>
                <a:gridCol w="3653367">
                  <a:extLst>
                    <a:ext uri="{9D8B030D-6E8A-4147-A177-3AD203B41FA5}">
                      <a16:colId xmlns:a16="http://schemas.microsoft.com/office/drawing/2014/main" val="1523446693"/>
                    </a:ext>
                  </a:extLst>
                </a:gridCol>
              </a:tblGrid>
              <a:tr h="322862">
                <a:tc>
                  <a:txBody>
                    <a:bodyPr/>
                    <a:lstStyle/>
                    <a:p>
                      <a:r>
                        <a:rPr lang="en-IN" sz="20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4026"/>
                  </a:ext>
                </a:extLst>
              </a:tr>
              <a:tr h="819573">
                <a:tc>
                  <a:txBody>
                    <a:bodyPr/>
                    <a:lstStyle/>
                    <a:p>
                      <a:r>
                        <a:rPr lang="en-IN" sz="2000" dirty="0"/>
                        <a:t>Inference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Combined preprocess (8 ms) + inference (9 ms) + postprocess (9 ms)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605603"/>
                  </a:ext>
                </a:extLst>
              </a:tr>
              <a:tr h="571218">
                <a:tc>
                  <a:txBody>
                    <a:bodyPr/>
                    <a:lstStyle/>
                    <a:p>
                      <a:r>
                        <a:rPr lang="en-IN" sz="2000" dirty="0"/>
                        <a:t>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FPS=1000/26 ms — Real-time performance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031811"/>
                  </a:ext>
                </a:extLst>
              </a:tr>
              <a:tr h="819573">
                <a:tc>
                  <a:txBody>
                    <a:bodyPr/>
                    <a:lstStyle/>
                    <a:p>
                      <a:r>
                        <a:rPr lang="en-IN" sz="2000" dirty="0"/>
                        <a:t>GPU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Efficient GPU workload using TensorRT INT8 engine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98368"/>
                  </a:ext>
                </a:extLst>
              </a:tr>
              <a:tr h="571218">
                <a:tc>
                  <a:txBody>
                    <a:bodyPr/>
                    <a:lstStyle/>
                    <a:p>
                      <a:r>
                        <a:rPr lang="en-IN" sz="2000" dirty="0"/>
                        <a:t>CPU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 CPU dependency; most work offloaded to GPU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362843"/>
                  </a:ext>
                </a:extLst>
              </a:tr>
              <a:tr h="571218">
                <a:tc>
                  <a:txBody>
                    <a:bodyPr/>
                    <a:lstStyle/>
                    <a:p>
                      <a:r>
                        <a:rPr lang="en-IN" sz="2000" dirty="0"/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10.4 GB / 16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From Task Manager, stable during inference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309143"/>
                  </a:ext>
                </a:extLst>
              </a:tr>
              <a:tr h="571218">
                <a:tc>
                  <a:txBody>
                    <a:bodyPr/>
                    <a:lstStyle/>
                    <a:p>
                      <a:r>
                        <a:rPr lang="en-IN" sz="2000" dirty="0"/>
                        <a:t>Power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~50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Estimated using NVIDIA GPU spec for RTX 3050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71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393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Conclusion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implemented real-time object detection using YOLOv8 optimized with TensorRT.</a:t>
            </a:r>
          </a:p>
          <a:p>
            <a:r>
              <a:rPr lang="en-US" dirty="0"/>
              <a:t>Achieved balance between speed (30 FPS) and accuracy (91% </a:t>
            </a:r>
            <a:r>
              <a:rPr lang="en-US" dirty="0" err="1"/>
              <a:t>mAP</a:t>
            </a:r>
            <a:r>
              <a:rPr lang="en-US" dirty="0"/>
              <a:t>).</a:t>
            </a:r>
          </a:p>
          <a:p>
            <a:r>
              <a:rPr lang="en-US" dirty="0"/>
              <a:t>Efficient GPU utilization with reduced CPU dependency.</a:t>
            </a:r>
          </a:p>
          <a:p>
            <a:r>
              <a:rPr lang="en-US" dirty="0"/>
              <a:t>Future scope: deploy on edge devices (Jetson Nano), add object tracking (</a:t>
            </a:r>
            <a:r>
              <a:rPr lang="en-US" dirty="0" err="1"/>
              <a:t>DeepSORT</a:t>
            </a:r>
            <a:r>
              <a:rPr lang="en-US" dirty="0"/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825625"/>
            <a:ext cx="1117962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Redmon, J. et al., “You Only Look Once: Unified, Real-Time Object Detection,” CVPR 2016.</a:t>
            </a:r>
          </a:p>
          <a:p>
            <a:r>
              <a:rPr lang="en-US" sz="2400" dirty="0"/>
              <a:t>Bochkovskiy, A. et al., “YOLOv4: Optimal Speed and Accuracy of Object Detection,” arXiv, 2020.</a:t>
            </a:r>
          </a:p>
          <a:p>
            <a:r>
              <a:rPr lang="en-US" sz="2400" dirty="0"/>
              <a:t>Ultralytics YOLOv8 Documentation – </a:t>
            </a:r>
            <a:r>
              <a:rPr lang="en-US" sz="2400" dirty="0">
                <a:hlinkClick r:id="rId2"/>
              </a:rPr>
              <a:t>https://docs.ultralytics.com</a:t>
            </a:r>
            <a:endParaRPr lang="en-US" sz="2400" dirty="0"/>
          </a:p>
          <a:p>
            <a:r>
              <a:rPr lang="en-US" sz="2400" dirty="0"/>
              <a:t>NVIDIA TensorRT Developer Guide – </a:t>
            </a:r>
            <a:r>
              <a:rPr lang="en-US" sz="2400" dirty="0">
                <a:hlinkClick r:id="rId3"/>
              </a:rPr>
              <a:t>https://developer.nvidia.com/tensorrt</a:t>
            </a:r>
            <a:endParaRPr lang="en-US" sz="2400" dirty="0"/>
          </a:p>
          <a:p>
            <a:r>
              <a:rPr lang="en-US" sz="2400" dirty="0"/>
              <a:t>COCO Dataset – </a:t>
            </a:r>
            <a:r>
              <a:rPr lang="en-US" sz="2400" dirty="0">
                <a:hlinkClick r:id="rId4"/>
              </a:rPr>
              <a:t>https://cocodataset.org</a:t>
            </a:r>
            <a:endParaRPr lang="en-US" sz="2400" dirty="0"/>
          </a:p>
          <a:p>
            <a:r>
              <a:rPr lang="en-US" sz="2400" dirty="0" err="1"/>
              <a:t>Github</a:t>
            </a:r>
            <a:r>
              <a:rPr lang="en-US" sz="2400" dirty="0"/>
              <a:t>: </a:t>
            </a:r>
            <a:r>
              <a:rPr lang="en-US" sz="2400" dirty="0">
                <a:hlinkClick r:id="rId5"/>
              </a:rPr>
              <a:t>https://github.com/maheshk22310389-cpu/Object_Detection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7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3832-9E4D-1566-8BBE-A5D1E2A8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EC40-C64F-8676-8627-9E44016A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5" y="28225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en-US" sz="7300" dirty="0"/>
              <a:t>THANK-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E0130-6ADD-AEAC-DC00-06BDE6E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your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A878F-B02B-0E3C-17C9-B848AE25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3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HD-Custom1">
      <a:majorFont>
        <a:latin typeface="Georgia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IT-ETC Temp" id="{1338105A-F749-4CCD-91BC-0B63B4C2F660}" vid="{14126956-D7DD-4666-BA19-925DFF610A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8730</TotalTime>
  <Words>985</Words>
  <Application>Microsoft Office PowerPoint</Application>
  <PresentationFormat>Widescreen</PresentationFormat>
  <Paragraphs>178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Bookman Old Style</vt:lpstr>
      <vt:lpstr>Calibri</vt:lpstr>
      <vt:lpstr>Georgia</vt:lpstr>
      <vt:lpstr>Office Theme</vt:lpstr>
      <vt:lpstr>Presentation on Object Detection By  Avishkar Gadhave –TY- 22310286- 312011 Aditya Waje –TY- 22310338- 312012 Mahesh Kachave –TY- 22310389- 312015  Subject : Machine Learning </vt:lpstr>
      <vt:lpstr>Outline</vt:lpstr>
      <vt:lpstr>Introduction</vt:lpstr>
      <vt:lpstr>Motivation</vt:lpstr>
      <vt:lpstr> Literature Survey </vt:lpstr>
      <vt:lpstr>Literature Survey</vt:lpstr>
      <vt:lpstr> Aim and Objectives </vt:lpstr>
      <vt:lpstr>Methodology </vt:lpstr>
      <vt:lpstr>Dataset used</vt:lpstr>
      <vt:lpstr>Different Phases of Implementation</vt:lpstr>
      <vt:lpstr>Results</vt:lpstr>
      <vt:lpstr>Performance Metrics</vt:lpstr>
      <vt:lpstr>Conclusion </vt:lpstr>
      <vt:lpstr>References</vt:lpstr>
      <vt:lpstr> THANK-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 ELITEBOOK 840 G5</cp:lastModifiedBy>
  <cp:revision>277</cp:revision>
  <cp:lastPrinted>2018-07-12T01:20:30Z</cp:lastPrinted>
  <dcterms:created xsi:type="dcterms:W3CDTF">2017-08-14T16:57:40Z</dcterms:created>
  <dcterms:modified xsi:type="dcterms:W3CDTF">2025-11-02T12:15:24Z</dcterms:modified>
</cp:coreProperties>
</file>